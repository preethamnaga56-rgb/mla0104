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7" r:id="rId2"/>
    <p:sldId id="284" r:id="rId3"/>
    <p:sldId id="256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3" r:id="rId12"/>
    <p:sldId id="28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62171-8043-405B-B441-EA21A38040D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7BF8E-F99A-416B-8FB3-C38F23B21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937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7BF8E-F99A-416B-8FB3-C38F23B212B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663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57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818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63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952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756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38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196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52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377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49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97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6218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024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960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607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011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01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A3BBB56-4152-4D48-AA5B-10AA4E6C128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62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80234&amp;picture=thank-you-text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1B0DE71-4544-C6A4-E561-EF1E56A264DD}"/>
              </a:ext>
            </a:extLst>
          </p:cNvPr>
          <p:cNvSpPr txBox="1"/>
          <p:nvPr/>
        </p:nvSpPr>
        <p:spPr>
          <a:xfrm>
            <a:off x="1735393" y="2452854"/>
            <a:ext cx="113699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LEVEL SENSOR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010871-9E71-F6F2-3A03-234991173957}"/>
              </a:ext>
            </a:extLst>
          </p:cNvPr>
          <p:cNvSpPr txBox="1"/>
          <p:nvPr/>
        </p:nvSpPr>
        <p:spPr>
          <a:xfrm>
            <a:off x="383457" y="4342531"/>
            <a:ext cx="59878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</a:t>
            </a:r>
            <a:r>
              <a:rPr lang="en-US" sz="28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MLA0104</a:t>
            </a:r>
          </a:p>
          <a:p>
            <a:pPr algn="just"/>
            <a:r>
              <a:rPr lang="en-US" sz="28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 :</a:t>
            </a:r>
            <a:r>
              <a:rPr lang="en-US" sz="28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for Expert Systems</a:t>
            </a:r>
          </a:p>
          <a:p>
            <a:pPr algn="just"/>
            <a:r>
              <a:rPr lang="en-US" sz="28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US" sz="28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Dr . </a:t>
            </a:r>
            <a:r>
              <a:rPr lang="en-US" sz="2800" dirty="0" err="1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M.Prakash</a:t>
            </a:r>
            <a:endParaRPr lang="en-US" sz="2800" dirty="0">
              <a:solidFill>
                <a:schemeClr val="tx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29666C01-74C6-FF90-050C-7F4B6B004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0" r="8205"/>
          <a:stretch>
            <a:fillRect/>
          </a:stretch>
        </p:blipFill>
        <p:spPr bwMode="auto">
          <a:xfrm>
            <a:off x="198851" y="205863"/>
            <a:ext cx="99441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B8A6A1-843F-2561-3669-2F817B0D05A3}"/>
              </a:ext>
            </a:extLst>
          </p:cNvPr>
          <p:cNvSpPr txBox="1"/>
          <p:nvPr/>
        </p:nvSpPr>
        <p:spPr>
          <a:xfrm>
            <a:off x="7167715" y="4528479"/>
            <a:ext cx="50242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. Naga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Preetham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(192525242)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22D85D-D058-3CC3-EB16-44CA7E657783}"/>
              </a:ext>
            </a:extLst>
          </p:cNvPr>
          <p:cNvGraphicFramePr>
            <a:graphicFrameLocks noGrp="1"/>
          </p:cNvGraphicFramePr>
          <p:nvPr/>
        </p:nvGraphicFramePr>
        <p:xfrm>
          <a:off x="1103313" y="4043839"/>
          <a:ext cx="8947150" cy="213360"/>
        </p:xfrm>
        <a:graphic>
          <a:graphicData uri="http://schemas.openxmlformats.org/drawingml/2006/table">
            <a:tbl>
              <a:tblPr/>
              <a:tblGrid>
                <a:gridCol w="1185381">
                  <a:extLst>
                    <a:ext uri="{9D8B030D-6E8A-4147-A177-3AD203B41FA5}">
                      <a16:colId xmlns:a16="http://schemas.microsoft.com/office/drawing/2014/main" val="4194740906"/>
                    </a:ext>
                  </a:extLst>
                </a:gridCol>
                <a:gridCol w="1185381">
                  <a:extLst>
                    <a:ext uri="{9D8B030D-6E8A-4147-A177-3AD203B41FA5}">
                      <a16:colId xmlns:a16="http://schemas.microsoft.com/office/drawing/2014/main" val="3131693428"/>
                    </a:ext>
                  </a:extLst>
                </a:gridCol>
                <a:gridCol w="4205626">
                  <a:extLst>
                    <a:ext uri="{9D8B030D-6E8A-4147-A177-3AD203B41FA5}">
                      <a16:colId xmlns:a16="http://schemas.microsoft.com/office/drawing/2014/main" val="610980628"/>
                    </a:ext>
                  </a:extLst>
                </a:gridCol>
                <a:gridCol w="1185381">
                  <a:extLst>
                    <a:ext uri="{9D8B030D-6E8A-4147-A177-3AD203B41FA5}">
                      <a16:colId xmlns:a16="http://schemas.microsoft.com/office/drawing/2014/main" val="3838939203"/>
                    </a:ext>
                  </a:extLst>
                </a:gridCol>
                <a:gridCol w="1185381">
                  <a:extLst>
                    <a:ext uri="{9D8B030D-6E8A-4147-A177-3AD203B41FA5}">
                      <a16:colId xmlns:a16="http://schemas.microsoft.com/office/drawing/2014/main" val="2080431510"/>
                    </a:ext>
                  </a:extLst>
                </a:gridCol>
              </a:tblGrid>
              <a:tr h="209699"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r>
                        <a:rPr lang="en-IN" sz="1400">
                          <a:effectLst/>
                        </a:rPr>
                        <a:t> </a:t>
                      </a:r>
                    </a:p>
                  </a:txBody>
                  <a:tcPr marL="0" marR="326198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0" marR="326198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spcBef>
                          <a:spcPts val="75"/>
                        </a:spcBef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0" marR="326198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0" marR="326198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N" sz="1400" dirty="0">
                        <a:effectLst/>
                      </a:endParaRPr>
                    </a:p>
                  </a:txBody>
                  <a:tcPr marL="0" marR="326198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35638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03756F-5A98-DF48-D057-ED0AC6F3E3B9}"/>
              </a:ext>
            </a:extLst>
          </p:cNvPr>
          <p:cNvGraphicFramePr>
            <a:graphicFrameLocks noGrp="1"/>
          </p:cNvGraphicFramePr>
          <p:nvPr/>
        </p:nvGraphicFramePr>
        <p:xfrm>
          <a:off x="1103313" y="4043839"/>
          <a:ext cx="8947150" cy="213360"/>
        </p:xfrm>
        <a:graphic>
          <a:graphicData uri="http://schemas.openxmlformats.org/drawingml/2006/table">
            <a:tbl>
              <a:tblPr/>
              <a:tblGrid>
                <a:gridCol w="1185381">
                  <a:extLst>
                    <a:ext uri="{9D8B030D-6E8A-4147-A177-3AD203B41FA5}">
                      <a16:colId xmlns:a16="http://schemas.microsoft.com/office/drawing/2014/main" val="1678647887"/>
                    </a:ext>
                  </a:extLst>
                </a:gridCol>
                <a:gridCol w="1185381">
                  <a:extLst>
                    <a:ext uri="{9D8B030D-6E8A-4147-A177-3AD203B41FA5}">
                      <a16:colId xmlns:a16="http://schemas.microsoft.com/office/drawing/2014/main" val="2918895323"/>
                    </a:ext>
                  </a:extLst>
                </a:gridCol>
                <a:gridCol w="4205626">
                  <a:extLst>
                    <a:ext uri="{9D8B030D-6E8A-4147-A177-3AD203B41FA5}">
                      <a16:colId xmlns:a16="http://schemas.microsoft.com/office/drawing/2014/main" val="1593909091"/>
                    </a:ext>
                  </a:extLst>
                </a:gridCol>
                <a:gridCol w="1185381">
                  <a:extLst>
                    <a:ext uri="{9D8B030D-6E8A-4147-A177-3AD203B41FA5}">
                      <a16:colId xmlns:a16="http://schemas.microsoft.com/office/drawing/2014/main" val="178489157"/>
                    </a:ext>
                  </a:extLst>
                </a:gridCol>
                <a:gridCol w="1185381">
                  <a:extLst>
                    <a:ext uri="{9D8B030D-6E8A-4147-A177-3AD203B41FA5}">
                      <a16:colId xmlns:a16="http://schemas.microsoft.com/office/drawing/2014/main" val="4195636312"/>
                    </a:ext>
                  </a:extLst>
                </a:gridCol>
              </a:tblGrid>
              <a:tr h="209699"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r>
                        <a:rPr lang="en-IN" sz="1400">
                          <a:effectLst/>
                        </a:rPr>
                        <a:t> </a:t>
                      </a:r>
                    </a:p>
                  </a:txBody>
                  <a:tcPr marL="0" marR="326198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0" marR="326198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spcBef>
                          <a:spcPts val="75"/>
                        </a:spcBef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0" marR="326198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0" marR="326198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N" sz="1400" dirty="0">
                        <a:effectLst/>
                      </a:endParaRPr>
                    </a:p>
                  </a:txBody>
                  <a:tcPr marL="0" marR="326198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60231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E282781-66E2-5696-4473-D5D5DFF0F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911905"/>
              </p:ext>
            </p:extLst>
          </p:nvPr>
        </p:nvGraphicFramePr>
        <p:xfrm>
          <a:off x="1476939" y="3739797"/>
          <a:ext cx="8947150" cy="213360"/>
        </p:xfrm>
        <a:graphic>
          <a:graphicData uri="http://schemas.openxmlformats.org/drawingml/2006/table">
            <a:tbl>
              <a:tblPr/>
              <a:tblGrid>
                <a:gridCol w="1185381">
                  <a:extLst>
                    <a:ext uri="{9D8B030D-6E8A-4147-A177-3AD203B41FA5}">
                      <a16:colId xmlns:a16="http://schemas.microsoft.com/office/drawing/2014/main" val="4183950102"/>
                    </a:ext>
                  </a:extLst>
                </a:gridCol>
                <a:gridCol w="1185381">
                  <a:extLst>
                    <a:ext uri="{9D8B030D-6E8A-4147-A177-3AD203B41FA5}">
                      <a16:colId xmlns:a16="http://schemas.microsoft.com/office/drawing/2014/main" val="2324010909"/>
                    </a:ext>
                  </a:extLst>
                </a:gridCol>
                <a:gridCol w="4205626">
                  <a:extLst>
                    <a:ext uri="{9D8B030D-6E8A-4147-A177-3AD203B41FA5}">
                      <a16:colId xmlns:a16="http://schemas.microsoft.com/office/drawing/2014/main" val="3356709258"/>
                    </a:ext>
                  </a:extLst>
                </a:gridCol>
                <a:gridCol w="1185381">
                  <a:extLst>
                    <a:ext uri="{9D8B030D-6E8A-4147-A177-3AD203B41FA5}">
                      <a16:colId xmlns:a16="http://schemas.microsoft.com/office/drawing/2014/main" val="1917641041"/>
                    </a:ext>
                  </a:extLst>
                </a:gridCol>
                <a:gridCol w="1185381">
                  <a:extLst>
                    <a:ext uri="{9D8B030D-6E8A-4147-A177-3AD203B41FA5}">
                      <a16:colId xmlns:a16="http://schemas.microsoft.com/office/drawing/2014/main" val="4199809741"/>
                    </a:ext>
                  </a:extLst>
                </a:gridCol>
              </a:tblGrid>
              <a:tr h="173151"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r>
                        <a:rPr lang="en-IN" sz="1400">
                          <a:effectLst/>
                        </a:rPr>
                        <a:t> </a:t>
                      </a:r>
                    </a:p>
                  </a:txBody>
                  <a:tcPr marL="0" marR="326198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0" marR="326198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spcBef>
                          <a:spcPts val="75"/>
                        </a:spcBef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0" marR="326198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0" marR="326198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N" sz="1400" dirty="0">
                        <a:effectLst/>
                      </a:endParaRPr>
                    </a:p>
                  </a:txBody>
                  <a:tcPr marL="0" marR="326198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255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948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30BA5-BB51-1F3E-8B2B-A51CA6CFD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071294-82B5-5F52-8949-9115910E0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6AE0201-84EF-F312-BB71-718BA4A4F1E8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A526FA9-5DA1-355B-AD75-F5F4F3C01AAF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11DFA87-BC7D-8EA8-F7F2-9ECCB4E5A230}"/>
              </a:ext>
            </a:extLst>
          </p:cNvPr>
          <p:cNvSpPr txBox="1"/>
          <p:nvPr/>
        </p:nvSpPr>
        <p:spPr>
          <a:xfrm>
            <a:off x="462114" y="1457926"/>
            <a:ext cx="1149391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Level Sensor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device used to detect or measure the amount or height of water present in a tank, container, reservoir, sump, or other water-storage system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 converts the physical water-level condition into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signal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signal can be processed by a microcontroller such as Arduino, ESP32, or a PLC.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level sensors are commonly used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low and high water levels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tank overflow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water wastage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water-management systems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water-level monitoring systems can combine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+ IoT + Artificial Intelligence/Machine Learning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the system more intelligent.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7A4950-0FD5-ECAE-C720-F34B3D30AF1A}"/>
              </a:ext>
            </a:extLst>
          </p:cNvPr>
          <p:cNvSpPr txBox="1"/>
          <p:nvPr/>
        </p:nvSpPr>
        <p:spPr>
          <a:xfrm>
            <a:off x="3582938" y="589934"/>
            <a:ext cx="51029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296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9442D5F-19A4-5BA9-2F73-1E724970BA18}"/>
              </a:ext>
            </a:extLst>
          </p:cNvPr>
          <p:cNvSpPr txBox="1"/>
          <p:nvPr/>
        </p:nvSpPr>
        <p:spPr>
          <a:xfrm>
            <a:off x="1230643" y="427103"/>
            <a:ext cx="85937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Water Level Sensing is Important</a:t>
            </a:r>
          </a:p>
          <a:p>
            <a:endParaRPr lang="en-IN" sz="4800" b="1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E04CE-FE11-3166-EB35-C5B4A713D90D}"/>
              </a:ext>
            </a:extLst>
          </p:cNvPr>
          <p:cNvSpPr txBox="1"/>
          <p:nvPr/>
        </p:nvSpPr>
        <p:spPr>
          <a:xfrm>
            <a:off x="5063613" y="16002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0EA78-FDF6-1EC7-692F-221590AD2DCA}"/>
              </a:ext>
            </a:extLst>
          </p:cNvPr>
          <p:cNvSpPr txBox="1"/>
          <p:nvPr/>
        </p:nvSpPr>
        <p:spPr>
          <a:xfrm>
            <a:off x="8931042" y="2529540"/>
            <a:ext cx="2099141" cy="2057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8135C5E-0C07-E779-5F7D-64BC118DB5A9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D38476AF-0D72-9D7B-C85F-667D52043D63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91CCA16-024A-1327-B908-38E4EB4FA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1679CC-8D5B-A650-1106-90E3F476C293}"/>
              </a:ext>
            </a:extLst>
          </p:cNvPr>
          <p:cNvSpPr txBox="1"/>
          <p:nvPr/>
        </p:nvSpPr>
        <p:spPr>
          <a:xfrm>
            <a:off x="530941" y="1600200"/>
            <a:ext cx="1076048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level monitoring is important because water is a limited and valuable resource.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benefits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Prevents Overflow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tank becomes full, the sensor can detect the high level and switch OFF the water pump.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Prevents Dry Running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water level becomes too low, the system can stop the pump to prevent damage.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Reduces Water Wastage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monitoring prevents unnecessary overflow and helps control water consumption.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Automatic Control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 can be connected to a controller and relay to automatically turn pumps ON or OFF.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Remote Monitoring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IoT technology, water-level information can be sent to a mobile application or cloud dashboard.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Smart Water Management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sensor data can be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AI/ML to identify abnormal consumption and predict future water levels.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772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C269FE-ED31-77DC-6E2A-DDF4827C0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C183938-4190-5313-F9B2-F62ED3CEBAA2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4CD4928-451C-7F07-6EB3-65DA5FCA7DCB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5C221B3-BEA5-67FF-0857-858AF4E2067F}"/>
              </a:ext>
            </a:extLst>
          </p:cNvPr>
          <p:cNvSpPr txBox="1"/>
          <p:nvPr/>
        </p:nvSpPr>
        <p:spPr>
          <a:xfrm>
            <a:off x="1707327" y="344089"/>
            <a:ext cx="8426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Level Sensor A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rchitecture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CB16CA-E1A1-B861-440B-FFBCDA00EC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988"/>
          <a:stretch>
            <a:fillRect/>
          </a:stretch>
        </p:blipFill>
        <p:spPr>
          <a:xfrm>
            <a:off x="363793" y="1491217"/>
            <a:ext cx="11464413" cy="513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18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7AE24E-B31E-F9FD-9783-AE4DE97D5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C80ACEB-61F9-EBF4-1130-C6CE693895FA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5248EAB-F623-F922-8250-B7E7A3E67922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A646CE6-9CFD-F46A-5815-B8D5B8B29D11}"/>
              </a:ext>
            </a:extLst>
          </p:cNvPr>
          <p:cNvSpPr txBox="1"/>
          <p:nvPr/>
        </p:nvSpPr>
        <p:spPr>
          <a:xfrm>
            <a:off x="3231328" y="279188"/>
            <a:ext cx="71087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  <a:p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A6096E-411D-12CB-3096-F747C46997E4}"/>
              </a:ext>
            </a:extLst>
          </p:cNvPr>
          <p:cNvSpPr txBox="1"/>
          <p:nvPr/>
        </p:nvSpPr>
        <p:spPr>
          <a:xfrm>
            <a:off x="117990" y="1174342"/>
            <a:ext cx="91604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principle depends on the type of water-level sensor.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 process is: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– Detection: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 detects the water level or distance between the sensor and water surface.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– Signal Generation: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physical change is converted into an electrical signal.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– Signal Processing: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receives the signal and processes it.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– Level Calculation: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determines the water level from the sensor reading.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– Decision: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measured level is compared with predefined limits.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level → Pump 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level → Pump OFF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level → Alert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– Output: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can be displayed locally or transmitted to a remote monitoring system.</a:t>
            </a:r>
          </a:p>
        </p:txBody>
      </p:sp>
    </p:spTree>
    <p:extLst>
      <p:ext uri="{BB962C8B-B14F-4D97-AF65-F5344CB8AC3E}">
        <p14:creationId xmlns:p14="http://schemas.microsoft.com/office/powerpoint/2010/main" val="3953838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A4A0D8-6514-D8FC-F29A-8B3456A01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307EAFB-0938-3D84-5335-4693C9E65265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0AAB68B-277F-051B-0F05-C4163CE40105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4CFD679-59D9-76BC-6EDA-E8525C464DF3}"/>
              </a:ext>
            </a:extLst>
          </p:cNvPr>
          <p:cNvSpPr txBox="1"/>
          <p:nvPr/>
        </p:nvSpPr>
        <p:spPr>
          <a:xfrm>
            <a:off x="2561303" y="422787"/>
            <a:ext cx="70693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45DFED-01BA-A2F0-2C07-5D7B4C491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84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0270BD-434C-A63E-3137-E412A72EE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EBD9A05-AA84-529B-7FB5-C523E232D3E8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452EE91-CB47-E82E-1F6B-21EAF13355A5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7C80569-0FDB-FAE3-6762-3E406B04C1B9}"/>
              </a:ext>
            </a:extLst>
          </p:cNvPr>
          <p:cNvSpPr txBox="1"/>
          <p:nvPr/>
        </p:nvSpPr>
        <p:spPr>
          <a:xfrm>
            <a:off x="1894140" y="226931"/>
            <a:ext cx="793811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Integration with Water Level Sensor</a:t>
            </a:r>
          </a:p>
          <a:p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152A7C-BE36-CD2A-9DAB-4A502E5935C7}"/>
              </a:ext>
            </a:extLst>
          </p:cNvPr>
          <p:cNvSpPr txBox="1"/>
          <p:nvPr/>
        </p:nvSpPr>
        <p:spPr>
          <a:xfrm>
            <a:off x="781663" y="1893831"/>
            <a:ext cx="9935498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collected over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future water levels and tank filling/emptying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unusual level changes caused by leakage or abnormal usage.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Detection: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abnormal sensor readings.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Pump Control: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decide when to turn the pump ON or OFF.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changes the system from simple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intelligent decision-making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Flow: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Level Sensor → Data Collection → AI/ML Model → Prediction/Anomaly Detection → Smart Decision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531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F87771-D591-31A3-4916-83D8AFEBE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365D448-6BAB-3AA5-6D46-E2312195F0A5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B540B31-8E42-006B-E1BD-FC4085EFAC22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190320B-FF57-9C10-BDFC-22B7F751C8BF}"/>
              </a:ext>
            </a:extLst>
          </p:cNvPr>
          <p:cNvSpPr txBox="1"/>
          <p:nvPr/>
        </p:nvSpPr>
        <p:spPr>
          <a:xfrm>
            <a:off x="4052438" y="343301"/>
            <a:ext cx="66957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818EE-2AE0-08B4-8BD2-6B7ED7132029}"/>
              </a:ext>
            </a:extLst>
          </p:cNvPr>
          <p:cNvSpPr txBox="1"/>
          <p:nvPr/>
        </p:nvSpPr>
        <p:spPr>
          <a:xfrm>
            <a:off x="440453" y="1666740"/>
            <a:ext cx="1104162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Water-level sensors are used in many areas.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Smart Homes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monitoring overhead tanks and controlling household water pumps.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Agriculture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monitor water storage tanks and irrigation systems.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Industries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monitoring water and liquid levels in industrial tanks.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Reservoirs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monitor water storage levels.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Smart Buildings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Water-level information can be integrated into building-management systems.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IoT Water Monitoring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can send real-time readings to cloud platforms.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55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854809-CEA1-0BB6-A855-640183AE9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3" y="89863"/>
            <a:ext cx="979231" cy="10936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68A5897-A25F-B08F-ED41-93C2222F3796}"/>
              </a:ext>
            </a:extLst>
          </p:cNvPr>
          <p:cNvGrpSpPr>
            <a:grpSpLocks noChangeAspect="1"/>
          </p:cNvGrpSpPr>
          <p:nvPr/>
        </p:nvGrpSpPr>
        <p:grpSpPr>
          <a:xfrm>
            <a:off x="11225190" y="92360"/>
            <a:ext cx="855172" cy="1091190"/>
            <a:chOff x="0" y="0"/>
            <a:chExt cx="1565280" cy="19972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2E5CD81-611F-646D-7887-DD3E1EC1C333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ACE3F70-18D0-0E06-C270-FE2E27A421FB}"/>
              </a:ext>
            </a:extLst>
          </p:cNvPr>
          <p:cNvSpPr txBox="1"/>
          <p:nvPr/>
        </p:nvSpPr>
        <p:spPr>
          <a:xfrm>
            <a:off x="1447085" y="226931"/>
            <a:ext cx="91029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Technologies</a:t>
            </a:r>
          </a:p>
          <a:p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19C492-6061-2F8A-7B4B-06D0A6B9F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350207"/>
              </p:ext>
            </p:extLst>
          </p:nvPr>
        </p:nvGraphicFramePr>
        <p:xfrm>
          <a:off x="398208" y="1183550"/>
          <a:ext cx="11395584" cy="554103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899264">
                  <a:extLst>
                    <a:ext uri="{9D8B030D-6E8A-4147-A177-3AD203B41FA5}">
                      <a16:colId xmlns:a16="http://schemas.microsoft.com/office/drawing/2014/main" val="1608408722"/>
                    </a:ext>
                  </a:extLst>
                </a:gridCol>
                <a:gridCol w="1899264">
                  <a:extLst>
                    <a:ext uri="{9D8B030D-6E8A-4147-A177-3AD203B41FA5}">
                      <a16:colId xmlns:a16="http://schemas.microsoft.com/office/drawing/2014/main" val="1346883724"/>
                    </a:ext>
                  </a:extLst>
                </a:gridCol>
                <a:gridCol w="1899264">
                  <a:extLst>
                    <a:ext uri="{9D8B030D-6E8A-4147-A177-3AD203B41FA5}">
                      <a16:colId xmlns:a16="http://schemas.microsoft.com/office/drawing/2014/main" val="3628663028"/>
                    </a:ext>
                  </a:extLst>
                </a:gridCol>
                <a:gridCol w="1899264">
                  <a:extLst>
                    <a:ext uri="{9D8B030D-6E8A-4147-A177-3AD203B41FA5}">
                      <a16:colId xmlns:a16="http://schemas.microsoft.com/office/drawing/2014/main" val="2825910478"/>
                    </a:ext>
                  </a:extLst>
                </a:gridCol>
                <a:gridCol w="1899264">
                  <a:extLst>
                    <a:ext uri="{9D8B030D-6E8A-4147-A177-3AD203B41FA5}">
                      <a16:colId xmlns:a16="http://schemas.microsoft.com/office/drawing/2014/main" val="1947307835"/>
                    </a:ext>
                  </a:extLst>
                </a:gridCol>
                <a:gridCol w="1899264">
                  <a:extLst>
                    <a:ext uri="{9D8B030D-6E8A-4147-A177-3AD203B41FA5}">
                      <a16:colId xmlns:a16="http://schemas.microsoft.com/office/drawing/2014/main" val="2130909938"/>
                    </a:ext>
                  </a:extLst>
                </a:gridCol>
              </a:tblGrid>
              <a:tr h="508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Parameter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Float Sensor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Conductive Sensor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Capacitive Sensor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Ultrasonic Sensor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Pressure Sensor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extLst>
                  <a:ext uri="{0D108BD9-81ED-4DB2-BD59-A6C34878D82A}">
                    <a16:rowId xmlns:a16="http://schemas.microsoft.com/office/drawing/2014/main" val="2501172302"/>
                  </a:ext>
                </a:extLst>
              </a:tr>
              <a:tr h="508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Working Principle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Buoyancy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Electrical conductivity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Change in capacitance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Ultrasonic echo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Hydrostatic pressure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extLst>
                  <a:ext uri="{0D108BD9-81ED-4DB2-BD59-A6C34878D82A}">
                    <a16:rowId xmlns:a16="http://schemas.microsoft.com/office/drawing/2014/main" val="3464388386"/>
                  </a:ext>
                </a:extLst>
              </a:tr>
              <a:tr h="406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Water Contact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Yes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Yes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Low/No*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Yes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extLst>
                  <a:ext uri="{0D108BD9-81ED-4DB2-BD59-A6C34878D82A}">
                    <a16:rowId xmlns:a16="http://schemas.microsoft.com/office/drawing/2014/main" val="2030088641"/>
                  </a:ext>
                </a:extLst>
              </a:tr>
              <a:tr h="508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Measurement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Point level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Point level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Point/Continuous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Continuous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Continuous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extLst>
                  <a:ext uri="{0D108BD9-81ED-4DB2-BD59-A6C34878D82A}">
                    <a16:rowId xmlns:a16="http://schemas.microsoft.com/office/drawing/2014/main" val="1157070991"/>
                  </a:ext>
                </a:extLst>
              </a:tr>
              <a:tr h="274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Cost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Very Low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extLst>
                  <a:ext uri="{0D108BD9-81ED-4DB2-BD59-A6C34878D82A}">
                    <a16:rowId xmlns:a16="http://schemas.microsoft.com/office/drawing/2014/main" val="1096510229"/>
                  </a:ext>
                </a:extLst>
              </a:tr>
              <a:tr h="274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Accuracy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extLst>
                  <a:ext uri="{0D108BD9-81ED-4DB2-BD59-A6C34878D82A}">
                    <a16:rowId xmlns:a16="http://schemas.microsoft.com/office/drawing/2014/main" val="1258318606"/>
                  </a:ext>
                </a:extLst>
              </a:tr>
              <a:tr h="274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Maintenance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extLst>
                  <a:ext uri="{0D108BD9-81ED-4DB2-BD59-A6C34878D82A}">
                    <a16:rowId xmlns:a16="http://schemas.microsoft.com/office/drawing/2014/main" val="2951633192"/>
                  </a:ext>
                </a:extLst>
              </a:tr>
              <a:tr h="274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Moving Parts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Yes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extLst>
                  <a:ext uri="{0D108BD9-81ED-4DB2-BD59-A6C34878D82A}">
                    <a16:rowId xmlns:a16="http://schemas.microsoft.com/office/drawing/2014/main" val="172064971"/>
                  </a:ext>
                </a:extLst>
              </a:tr>
              <a:tr h="593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Main Advantage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Simple &amp; cheap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Easy level detection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No moving parts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Contactless measurement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Reliable depth measurement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extLst>
                  <a:ext uri="{0D108BD9-81ED-4DB2-BD59-A6C34878D82A}">
                    <a16:rowId xmlns:a16="http://schemas.microsoft.com/office/drawing/2014/main" val="1830897244"/>
                  </a:ext>
                </a:extLst>
              </a:tr>
              <a:tr h="78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Main Limitation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Mechanical wear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Requires conductive water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Needs calibration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Foam/condensation can affect readings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Sensor is submerged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extLst>
                  <a:ext uri="{0D108BD9-81ED-4DB2-BD59-A6C34878D82A}">
                    <a16:rowId xmlns:a16="http://schemas.microsoft.com/office/drawing/2014/main" val="796846374"/>
                  </a:ext>
                </a:extLst>
              </a:tr>
              <a:tr h="508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Best Application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Home tanks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Basic water-level alarms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Industrial tanks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Smart/IoT tanks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Wells &amp; large tanks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3" marR="47143" marT="23572" marB="23572" anchor="ctr"/>
                </a:tc>
                <a:extLst>
                  <a:ext uri="{0D108BD9-81ED-4DB2-BD59-A6C34878D82A}">
                    <a16:rowId xmlns:a16="http://schemas.microsoft.com/office/drawing/2014/main" val="1263798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5207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33A658-EC1B-B63D-DFE3-4BFF38454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AA58D7F-6424-ED38-DE9B-5313FB5ECB94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3F0CB8F-A0BD-9688-9303-9CE68F335DDA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6A4A490-9687-1867-FC61-7769A774269F}"/>
              </a:ext>
            </a:extLst>
          </p:cNvPr>
          <p:cNvSpPr txBox="1"/>
          <p:nvPr/>
        </p:nvSpPr>
        <p:spPr>
          <a:xfrm>
            <a:off x="3893574" y="329381"/>
            <a:ext cx="59288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A0008E-406A-8BFA-CA18-1FE7C94B779A}"/>
              </a:ext>
            </a:extLst>
          </p:cNvPr>
          <p:cNvSpPr txBox="1"/>
          <p:nvPr/>
        </p:nvSpPr>
        <p:spPr>
          <a:xfrm>
            <a:off x="383457" y="794802"/>
            <a:ext cx="11808543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b="1" dirty="0"/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Water-level sensors can face several practical problems.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Sensor Calibration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calibration can produce inaccurate readings.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Environmental Noise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or physical noise can affect sensor measurements.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Foam and Bubbles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ultrasonic sensors, foam or bubbles on the water surface can affect the reflected signal.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Condensation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Moisture or condensation near the sensor can affect measurements.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Corrosion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Contact-based sensors may experience corrosion over time.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Power Consumption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Battery-powered IoT systems must be designed for low power consumption.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Communication Problems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sensors can lose connectivity in environments with weak signals.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Sensor Failure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faulty sensor can produce abnormal readings, so fault detection is important.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4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F8C7E7-8F49-A801-B115-50D110E2C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EBFE49D-17F5-B3BB-1BAD-CA015C3E3A96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EE96DAA-21DF-8AF1-6313-A81FEAB7EF94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EDC73C1-20F8-00E8-714F-DA5C9CD58364}"/>
              </a:ext>
            </a:extLst>
          </p:cNvPr>
          <p:cNvSpPr txBox="1"/>
          <p:nvPr/>
        </p:nvSpPr>
        <p:spPr>
          <a:xfrm>
            <a:off x="1510172" y="433409"/>
            <a:ext cx="80172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Trends of Water Level   Sensors</a:t>
            </a:r>
          </a:p>
          <a:p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53A03C-6837-8196-4810-943E61326247}"/>
              </a:ext>
            </a:extLst>
          </p:cNvPr>
          <p:cNvSpPr txBox="1"/>
          <p:nvPr/>
        </p:nvSpPr>
        <p:spPr>
          <a:xfrm>
            <a:off x="530941" y="1783529"/>
            <a:ext cx="10844982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Machine Learning: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 future water levels and detect abnormal patterns.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Connectivity: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real-time monitoring through cloud and mobile dashboards.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sensor data locally for faster decisions, even with limited connectivity.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Fusion: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 water-level, flow, pressure, rainfall, and other sensor data for better accuracy.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virtual models of tanks and water systems for monitoring and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Low-Power Sensors: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energy-efficient sensors and wireless technologies for long-term operation.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Control: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systems can automatically control pumps and valves based on sensor data and AI predictions.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02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35EC4-04B8-3F56-3A61-91BE2AA33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272" y="452718"/>
            <a:ext cx="9404723" cy="1400530"/>
          </a:xfrm>
        </p:spPr>
        <p:txBody>
          <a:bodyPr/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sz="4000" b="1" dirty="0"/>
            </a:br>
            <a:br>
              <a:rPr lang="en-IN" sz="4000" b="1" dirty="0"/>
            </a:b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9928A-49E3-0147-E8FE-C598FE6F7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D3D440E-3966-A405-7539-00362ED6626E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A117411-11AA-9E84-57E0-B0FD1908632D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1FBA795-652E-D5FC-A673-F11301258082}"/>
              </a:ext>
            </a:extLst>
          </p:cNvPr>
          <p:cNvSpPr txBox="1"/>
          <p:nvPr/>
        </p:nvSpPr>
        <p:spPr>
          <a:xfrm>
            <a:off x="530941" y="1320618"/>
            <a:ext cx="10371485" cy="5995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level sensors provide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automatic water-level monitoring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sensors such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float, conductive, capacitive, ultrasonic, and pressure sensors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available.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useful for contactless and continuous level measurement.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and AI/ML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prediction, anomaly detection, and smart control.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systems will become more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intelligent, connected, low-power, and predictive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Water-level sensing can therefore play an important role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and sustainable water management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2233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0E5DC7-3D2C-BE9B-7F4E-4052F3811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10581" y="1790977"/>
            <a:ext cx="7551665" cy="322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478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945</TotalTime>
  <Words>1091</Words>
  <Application>Microsoft Office PowerPoint</Application>
  <PresentationFormat>Widescreen</PresentationFormat>
  <Paragraphs>181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Aptos</vt:lpstr>
      <vt:lpstr>Arial</vt:lpstr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Saketh Reddy</dc:creator>
  <cp:lastModifiedBy>PREETHAM KANDALA</cp:lastModifiedBy>
  <cp:revision>16</cp:revision>
  <dcterms:created xsi:type="dcterms:W3CDTF">2025-09-17T14:59:25Z</dcterms:created>
  <dcterms:modified xsi:type="dcterms:W3CDTF">2026-08-24T12:15:13Z</dcterms:modified>
</cp:coreProperties>
</file>